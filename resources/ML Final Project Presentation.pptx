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FD535B-B5B8-4CC5-9CE6-00846FD00386}">
  <a:tblStyle styleId="{16FD535B-B5B8-4CC5-9CE6-00846FD003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Nunito-bold.fntdata"/><Relationship Id="rId10" Type="http://schemas.openxmlformats.org/officeDocument/2006/relationships/slide" Target="slides/slide4.xml"/><Relationship Id="rId21" Type="http://schemas.openxmlformats.org/officeDocument/2006/relationships/font" Target="fonts/Nunito-regular.fntdata"/><Relationship Id="rId13" Type="http://schemas.openxmlformats.org/officeDocument/2006/relationships/slide" Target="slides/slide7.xml"/><Relationship Id="rId24" Type="http://schemas.openxmlformats.org/officeDocument/2006/relationships/font" Target="fonts/Nunito-boldItalic.fntdata"/><Relationship Id="rId12" Type="http://schemas.openxmlformats.org/officeDocument/2006/relationships/slide" Target="slides/slide6.xml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6f680f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76f680f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6f680f7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76f680f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77211488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77211488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6f680f7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76f680f7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77211488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77211488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772114880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77211488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76efc2b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76efc2b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77211488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77211488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772114880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77211488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772114880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772114880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76efc2b8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76efc2b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77211488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77211488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76efc2b8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76efc2b8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hassnainzaidi/garbage-classification" TargetMode="External"/><Relationship Id="rId4" Type="http://schemas.openxmlformats.org/officeDocument/2006/relationships/hyperlink" Target="http://kaggle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3.jpg"/><Relationship Id="rId6" Type="http://schemas.openxmlformats.org/officeDocument/2006/relationships/image" Target="../media/image1.jpg"/><Relationship Id="rId7" Type="http://schemas.openxmlformats.org/officeDocument/2006/relationships/image" Target="../media/image4.jpg"/><Relationship Id="rId8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7 Project Presentation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Arcega, Duc-Viet Hoang , Sam Whitney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Garbage Classification Dataset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676875"/>
            <a:ext cx="7505700" cy="29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Garbage Classification</a:t>
            </a:r>
            <a:r>
              <a:rPr lang="en" sz="1700"/>
              <a:t>, by Hassnain Zaidi, from </a:t>
            </a:r>
            <a:r>
              <a:rPr lang="en" sz="1700" u="sng">
                <a:solidFill>
                  <a:schemeClr val="hlink"/>
                </a:solidFill>
                <a:hlinkClick r:id="rId4"/>
              </a:rPr>
              <a:t>kaggle.com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Downloaded using kaggle’s API using mlcroissant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Consists of 2527 images across 6 classes: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Paper - 594 images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Glass - 501 images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Plastic - 482 images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Metal - 410 images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Cardboard - 403 images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Trash (Mixed or non-recyclable waste) - 137 images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Notable class imbalance (Paper is ~ 4.34 times the size of trash)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Dataset Complications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Description</a:t>
            </a:r>
            <a:r>
              <a:rPr b="1" lang="en" sz="1700"/>
              <a:t> mismatch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12 categories (glass color, shoes, batteries, etc) → 6 categories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Duplicated data for training, testing and validation → Manual splitting.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1025" y="1493000"/>
            <a:ext cx="1820525" cy="13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6707212" y="2801955"/>
            <a:ext cx="116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Plastic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1738" y="1493000"/>
            <a:ext cx="1820525" cy="136540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3987900" y="2818090"/>
            <a:ext cx="116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Cardboard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2450" y="1515475"/>
            <a:ext cx="1820525" cy="136539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1268588" y="2826152"/>
            <a:ext cx="116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Glass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2450" y="3243306"/>
            <a:ext cx="1820525" cy="136539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1268600" y="4542575"/>
            <a:ext cx="116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Metal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1750" y="3186851"/>
            <a:ext cx="1849025" cy="13867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4002163" y="4528100"/>
            <a:ext cx="116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9550" y="3197550"/>
            <a:ext cx="1820500" cy="136538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6735713" y="4542575"/>
            <a:ext cx="116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Mixed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819150" y="845600"/>
            <a:ext cx="75057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819150" y="1549550"/>
            <a:ext cx="7505700" cy="28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Tasks handled by preprocessing: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Standardization of image size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Splitting single image set into training/testing/validation sets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Augment training count and resolve class imbalances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Normalize lighting and enhance contrast for feature extraction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Prevent overfitting by handling orientation, source sampling/lighting variation</a:t>
            </a:r>
            <a:endParaRPr b="1" sz="1700"/>
          </a:p>
          <a:p>
            <a:pPr indent="0" lvl="0" marL="4572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Pipeline</a:t>
            </a:r>
            <a:endParaRPr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000" y="2184925"/>
            <a:ext cx="8360125" cy="181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12503"/>
          <a:stretch/>
        </p:blipFill>
        <p:spPr>
          <a:xfrm>
            <a:off x="1674875" y="225300"/>
            <a:ext cx="6073925" cy="462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819150" y="845600"/>
            <a:ext cx="7505700" cy="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k-NN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714550" y="1420700"/>
            <a:ext cx="7505700" cy="27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Hyperparameter Tuning (k):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Evaluate k in the range 1 to 49 (odd)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Select the value of k that achieves the highest F1-score on the validation set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Final Evaluation: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Apply the selected k to the test set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Report the test performance (e.g., accuracy, F1-score)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819150" y="845600"/>
            <a:ext cx="7505700" cy="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CNN</a:t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714550" y="1420700"/>
            <a:ext cx="7505700" cy="35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Architecture:</a:t>
            </a:r>
            <a:endParaRPr b="1" sz="1700"/>
          </a:p>
          <a:p>
            <a:pPr indent="-328454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3 Convolution Blocks:</a:t>
            </a:r>
            <a:endParaRPr sz="1700"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Conv(3 → 32) + BatchNorm + LeakyReLU + MaxPool</a:t>
            </a:r>
            <a:endParaRPr sz="1700"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Conv(32 → 64) + BatchNorm + LeakyReLU + MaxPool</a:t>
            </a:r>
            <a:endParaRPr sz="1700"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Conv(64 → 128) + BatchNorm + LeakyReLU + MaxPool</a:t>
            </a: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AdaptiveAvgPool2d → (5 × 5) → 128 × 5 × 5 = 3200 features</a:t>
            </a: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Fully Connected Layers: 3200 → 256 → 128 → 64 → 6 (output)</a:t>
            </a: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Dropout: 0.1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Training Strategy:</a:t>
            </a:r>
            <a:endParaRPr b="1" sz="1700"/>
          </a:p>
          <a:p>
            <a:pPr indent="-328454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Monitor loss on the validation set</a:t>
            </a: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If no improvement for 3 epochs → Reduce learning rate by half</a:t>
            </a: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If no improvement for 5 epochs → Stop training (early stopping)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819150" y="749725"/>
            <a:ext cx="75057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SVM</a:t>
            </a:r>
            <a:endParaRPr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819150" y="1326925"/>
            <a:ext cx="75057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303"/>
              <a:t>Architecture:</a:t>
            </a:r>
            <a:endParaRPr b="1" sz="1303"/>
          </a:p>
          <a:p>
            <a:pPr indent="-311309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3"/>
              <a:buChar char="●"/>
            </a:pPr>
            <a:r>
              <a:rPr lang="en" sz="1303"/>
              <a:t>Feature Extraction:</a:t>
            </a:r>
            <a:endParaRPr sz="1303"/>
          </a:p>
          <a:p>
            <a:pPr indent="-2995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18"/>
              <a:buChar char="○"/>
            </a:pPr>
            <a:r>
              <a:rPr lang="en" sz="1118"/>
              <a:t>HOG Feature Extraction</a:t>
            </a:r>
            <a:endParaRPr sz="1118"/>
          </a:p>
          <a:p>
            <a:pPr indent="-2995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18"/>
              <a:buChar char="○"/>
            </a:pPr>
            <a:r>
              <a:rPr lang="en" sz="1118"/>
              <a:t>Global Color Histogram</a:t>
            </a:r>
            <a:endParaRPr sz="1118"/>
          </a:p>
          <a:p>
            <a:pPr indent="-2995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18"/>
              <a:buChar char="○"/>
            </a:pPr>
            <a:r>
              <a:rPr lang="en" sz="1118"/>
              <a:t>Color-HOG Feature Concatenation</a:t>
            </a:r>
            <a:endParaRPr sz="1118"/>
          </a:p>
          <a:p>
            <a:pPr indent="-2995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18"/>
              <a:buChar char="○"/>
            </a:pPr>
            <a:r>
              <a:rPr lang="en" sz="1118"/>
              <a:t>2x2 - 3x3 Spatial Color Histogram</a:t>
            </a:r>
            <a:endParaRPr sz="1118"/>
          </a:p>
          <a:p>
            <a:pPr indent="-2995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18"/>
              <a:buChar char="○"/>
            </a:pPr>
            <a:r>
              <a:rPr lang="en" sz="1118"/>
              <a:t>Saturation-weighted Hue Histogram</a:t>
            </a:r>
            <a:endParaRPr sz="1118"/>
          </a:p>
          <a:p>
            <a:pPr indent="-2995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18"/>
              <a:buChar char="○"/>
            </a:pPr>
            <a:r>
              <a:rPr lang="en" sz="1118"/>
              <a:t>2x2, 3x3 - Saturation Feature Concatenation</a:t>
            </a:r>
            <a:endParaRPr sz="1118"/>
          </a:p>
          <a:p>
            <a:pPr indent="-31130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3"/>
              <a:t>Dimensionality Reduction</a:t>
            </a:r>
            <a:endParaRPr sz="1303"/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Char char="○"/>
            </a:pPr>
            <a:r>
              <a:rPr lang="en" sz="1118"/>
              <a:t>PCA Application: 1792 Components </a:t>
            </a:r>
            <a:r>
              <a:rPr lang="en" sz="1071"/>
              <a:t>→ 591</a:t>
            </a:r>
            <a:endParaRPr sz="1071"/>
          </a:p>
          <a:p>
            <a:pPr indent="-31130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3"/>
              <a:t>Classifier</a:t>
            </a:r>
            <a:endParaRPr sz="1303"/>
          </a:p>
          <a:p>
            <a:pPr indent="-29956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18"/>
              <a:buChar char="○"/>
            </a:pPr>
            <a:r>
              <a:rPr lang="en" sz="1118"/>
              <a:t>SVM: try linear, polynomial, RBF kernels</a:t>
            </a:r>
            <a:endParaRPr sz="1118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303"/>
              <a:t>Training Strategy:</a:t>
            </a:r>
            <a:endParaRPr b="1" sz="1303"/>
          </a:p>
          <a:p>
            <a:pPr indent="-311309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3"/>
              <a:buChar char="●"/>
            </a:pPr>
            <a:r>
              <a:rPr lang="en" sz="1303"/>
              <a:t>Test all feature-set permutations all classifier C/gamma/dimension settings using GridSearchCV</a:t>
            </a:r>
            <a:endParaRPr sz="1303"/>
          </a:p>
          <a:p>
            <a:pPr indent="-31130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3"/>
              <a:t>Parameter grid selects best feature set with best parameter performance in training/validation phase</a:t>
            </a:r>
            <a:endParaRPr sz="1303"/>
          </a:p>
          <a:p>
            <a:pPr indent="-31130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3"/>
              <a:t>Makes final evaluation on hold-out testing set</a:t>
            </a:r>
            <a:endParaRPr sz="1303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819150" y="5245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Training Metrics</a:t>
            </a:r>
            <a:endParaRPr/>
          </a:p>
        </p:txBody>
      </p:sp>
      <p:graphicFrame>
        <p:nvGraphicFramePr>
          <p:cNvPr id="199" name="Google Shape;199;p23"/>
          <p:cNvGraphicFramePr/>
          <p:nvPr/>
        </p:nvGraphicFramePr>
        <p:xfrm>
          <a:off x="881325" y="119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{16FD535B-B5B8-4CC5-9CE6-00846FD00386}</a:tableStyleId>
              </a:tblPr>
              <a:tblGrid>
                <a:gridCol w="1285850"/>
                <a:gridCol w="1285850"/>
                <a:gridCol w="1285850"/>
                <a:gridCol w="1285850"/>
                <a:gridCol w="1285850"/>
                <a:gridCol w="1285850"/>
              </a:tblGrid>
              <a:tr h="55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Feature Mode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Best Kernel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Accuracy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Precision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Recall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F1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HOG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Polynomial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0.5884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0.6870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0.5523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0.5701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Color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Polynomial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0.7731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0.7715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0.7568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0.7629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HOG-Color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Linear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0.6253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0.6113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0.6074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0.6079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2x2 Color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Polynomial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0.8021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0.7890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0.7989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0.7917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3x3 Color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RBF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0.8047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0.8063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0.8078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0.8055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5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Saturation - weighted Hue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Polynomial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0.6253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0.6107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0.5941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0.5886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Sat-3x3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RBF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0.8074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0.8077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0.8097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0.8073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819150" y="845600"/>
            <a:ext cx="7505700" cy="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aphicFrame>
        <p:nvGraphicFramePr>
          <p:cNvPr id="205" name="Google Shape;205;p24"/>
          <p:cNvGraphicFramePr/>
          <p:nvPr/>
        </p:nvGraphicFramePr>
        <p:xfrm>
          <a:off x="952500" y="168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{16FD535B-B5B8-4CC5-9CE6-00846FD00386}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Accuracy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Precision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Recall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 Score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Logistic Regression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25.33%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0.261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0.262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k-NN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29.82%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CNN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73.35%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SVM-Spatial 3x3, Saturation - weighted Hue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80.00%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0.7807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0.7925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0.7844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819150" y="845600"/>
            <a:ext cx="7505700" cy="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714550" y="1420700"/>
            <a:ext cx="7505700" cy="27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Why does CNN not achieve high performance?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Dataset limitations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Visually similar classes (hard to distinguish) → “Mixed” category 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212" name="Google Shape;2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213" y="2491001"/>
            <a:ext cx="2127601" cy="15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2362088" y="4086701"/>
            <a:ext cx="77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Paper?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3713" y="2491001"/>
            <a:ext cx="2127599" cy="15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 txBox="1"/>
          <p:nvPr/>
        </p:nvSpPr>
        <p:spPr>
          <a:xfrm>
            <a:off x="5809613" y="4086701"/>
            <a:ext cx="77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Plastic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1501049" y="1748700"/>
            <a:ext cx="61419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Thank you for your attention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Q&amp;A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